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63" d="100"/>
          <a:sy n="163" d="100"/>
        </p:scale>
        <p:origin x="184" y="2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144471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473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-914400"/>
            <a:ext cx="4572000" cy="4572000"/>
          </a:xfrm>
          <a:prstGeom prst="ellipse">
            <a:avLst/>
          </a:prstGeom>
          <a:solidFill>
            <a:srgbClr val="2D6A4F">
              <a:alpha val="35000"/>
            </a:srgbClr>
          </a:solidFill>
          <a:ln w="12700">
            <a:solidFill>
              <a:srgbClr val="2D6A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-1371600" y="3200400"/>
            <a:ext cx="3657600" cy="3657600"/>
          </a:xfrm>
          <a:prstGeom prst="ellipse">
            <a:avLst/>
          </a:prstGeom>
          <a:solidFill>
            <a:srgbClr val="2D6A4F">
              <a:alpha val="28000"/>
            </a:srgbClr>
          </a:solidFill>
          <a:ln w="12700">
            <a:solidFill>
              <a:srgbClr val="2D6A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548640" y="960120"/>
            <a:ext cx="2148840" cy="347472"/>
          </a:xfrm>
          <a:prstGeom prst="roundRect">
            <a:avLst>
              <a:gd name="adj" fmla="val 26316"/>
            </a:avLst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48640" y="960120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47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926080" y="960120"/>
            <a:ext cx="2148840" cy="347472"/>
          </a:xfrm>
          <a:prstGeom prst="roundRect">
            <a:avLst>
              <a:gd name="adj" fmla="val 26316"/>
            </a:avLst>
          </a:prstGeom>
          <a:solidFill>
            <a:srgbClr val="2D6A4F"/>
          </a:solidFill>
          <a:ln w="12700">
            <a:solidFill>
              <a:srgbClr val="52B7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2926080" y="960120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47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Mongoose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303520" y="960120"/>
            <a:ext cx="2148840" cy="347472"/>
          </a:xfrm>
          <a:prstGeom prst="roundRect">
            <a:avLst>
              <a:gd name="adj" fmla="val 26316"/>
            </a:avLst>
          </a:prstGeom>
          <a:solidFill>
            <a:srgbClr val="1A4731"/>
          </a:solidFill>
          <a:ln w="12700">
            <a:solidFill>
              <a:srgbClr val="52B7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303520" y="960120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MERN Stack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48640" y="1463040"/>
            <a:ext cx="777240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Full MERN Stack</a:t>
            </a:r>
            <a:endParaRPr lang="en-US" sz="4400" dirty="0"/>
          </a:p>
        </p:txBody>
      </p:sp>
      <p:sp>
        <p:nvSpPr>
          <p:cNvPr id="11" name="Text 9"/>
          <p:cNvSpPr/>
          <p:nvPr/>
        </p:nvSpPr>
        <p:spPr>
          <a:xfrm>
            <a:off x="548640" y="3401568"/>
            <a:ext cx="7772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· Express · React · Node.js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integration, Mongoose ODM, and full-stack data flow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A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4731"/>
          </a:solidFill>
          <a:ln w="12700">
            <a:solidFill>
              <a:srgbClr val="1A473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365760" y="164592"/>
            <a:ext cx="914400" cy="347472"/>
          </a:xfrm>
          <a:prstGeom prst="roundRect">
            <a:avLst>
              <a:gd name="adj" fmla="val 13158"/>
            </a:avLst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164592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47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417320" y="91440"/>
            <a:ext cx="7406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MONGODB &amp; NOSQL FUNDAMENTALS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47472" y="868680"/>
            <a:ext cx="4160520" cy="2085535"/>
          </a:xfrm>
          <a:prstGeom prst="roundRect">
            <a:avLst>
              <a:gd name="adj" fmla="val 3817"/>
            </a:avLst>
          </a:prstGeom>
          <a:solidFill>
            <a:srgbClr val="1A4731"/>
          </a:solidFill>
          <a:ln w="12700">
            <a:solidFill>
              <a:srgbClr val="1A4731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072" y="1069848"/>
            <a:ext cx="411480" cy="358203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97280" y="1033272"/>
            <a:ext cx="3246120" cy="33432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2B7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MongoDB?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576072" y="1527047"/>
            <a:ext cx="3703320" cy="45719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576072" y="1618488"/>
            <a:ext cx="3703320" cy="128952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A8DA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is a document-oriented NoSQL database. Data is stored as JSON-like documents in collections — not rows in tables.</a:t>
            </a:r>
            <a:endParaRPr lang="en-US" sz="1100" dirty="0"/>
          </a:p>
          <a:p>
            <a:pPr marL="0" indent="0" algn="l">
              <a:buNone/>
            </a:pP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A8DA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Analogy: SQL is a Filing Cabinet (rigid, structured). MongoDB is a Box of LEGOs — flexible, each document can have a unique structure.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347472" y="3034245"/>
            <a:ext cx="4160520" cy="285612"/>
          </a:xfrm>
          <a:prstGeom prst="rect">
            <a:avLst/>
          </a:prstGeom>
          <a:solidFill>
            <a:srgbClr val="1A4731"/>
          </a:solidFill>
          <a:ln w="12700">
            <a:solidFill>
              <a:srgbClr val="A8DAB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475488" y="3070821"/>
            <a:ext cx="1956816" cy="23368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SQL Term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2560320" y="3070821"/>
            <a:ext cx="1956816" cy="23368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MongoDB Equivalent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347472" y="3426267"/>
            <a:ext cx="4160520" cy="285612"/>
          </a:xfrm>
          <a:prstGeom prst="rect">
            <a:avLst/>
          </a:prstGeom>
          <a:solidFill>
            <a:srgbClr val="FFFFFF"/>
          </a:solidFill>
          <a:ln w="12700">
            <a:solidFill>
              <a:srgbClr val="A8DAB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475488" y="3462843"/>
            <a:ext cx="1956816" cy="23368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2560320" y="3462843"/>
            <a:ext cx="1956816" cy="23368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347472" y="3865179"/>
            <a:ext cx="4160520" cy="285612"/>
          </a:xfrm>
          <a:prstGeom prst="rect">
            <a:avLst/>
          </a:prstGeom>
          <a:solidFill>
            <a:srgbClr val="D8F3DC"/>
          </a:solidFill>
          <a:ln w="12700">
            <a:solidFill>
              <a:srgbClr val="A8DAB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475488" y="3901755"/>
            <a:ext cx="1956816" cy="23368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2560320" y="3901755"/>
            <a:ext cx="1956816" cy="23368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Collection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347472" y="4304091"/>
            <a:ext cx="4160520" cy="285612"/>
          </a:xfrm>
          <a:prstGeom prst="rect">
            <a:avLst/>
          </a:prstGeom>
          <a:solidFill>
            <a:srgbClr val="FFFFFF"/>
          </a:solidFill>
          <a:ln w="12700">
            <a:solidFill>
              <a:srgbClr val="A8DAB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475488" y="4340667"/>
            <a:ext cx="1956816" cy="23368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2560320" y="4340667"/>
            <a:ext cx="1956816" cy="23368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347472" y="4743003"/>
            <a:ext cx="4160520" cy="285612"/>
          </a:xfrm>
          <a:prstGeom prst="rect">
            <a:avLst/>
          </a:prstGeom>
          <a:solidFill>
            <a:srgbClr val="D8F3DC"/>
          </a:solidFill>
          <a:ln w="12700">
            <a:solidFill>
              <a:srgbClr val="A8DAB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/>
          <p:nvPr/>
        </p:nvSpPr>
        <p:spPr>
          <a:xfrm>
            <a:off x="475488" y="4779579"/>
            <a:ext cx="1956816" cy="23368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2560320" y="4779579"/>
            <a:ext cx="1956816" cy="23368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4754880" y="868680"/>
            <a:ext cx="4069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47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Document Structure</a:t>
            </a:r>
            <a:endParaRPr lang="en-US" sz="1300" dirty="0"/>
          </a:p>
        </p:txBody>
      </p:sp>
      <p:sp>
        <p:nvSpPr>
          <p:cNvPr id="27" name="Shape 24"/>
          <p:cNvSpPr/>
          <p:nvPr/>
        </p:nvSpPr>
        <p:spPr>
          <a:xfrm>
            <a:off x="4754880" y="1298448"/>
            <a:ext cx="4069080" cy="3511296"/>
          </a:xfrm>
          <a:prstGeom prst="roundRect">
            <a:avLst>
              <a:gd name="adj" fmla="val 2083"/>
            </a:avLst>
          </a:prstGeom>
          <a:solidFill>
            <a:srgbClr val="0D1F14"/>
          </a:solidFill>
          <a:ln w="12700">
            <a:solidFill>
              <a:srgbClr val="2D6A4F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8" name="Shape 25"/>
          <p:cNvSpPr/>
          <p:nvPr/>
        </p:nvSpPr>
        <p:spPr>
          <a:xfrm>
            <a:off x="4919472" y="1426464"/>
            <a:ext cx="109728" cy="109728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6"/>
          <p:cNvSpPr/>
          <p:nvPr/>
        </p:nvSpPr>
        <p:spPr>
          <a:xfrm>
            <a:off x="5120640" y="1426464"/>
            <a:ext cx="109728" cy="109728"/>
          </a:xfrm>
          <a:prstGeom prst="ellipse">
            <a:avLst/>
          </a:prstGeom>
          <a:solidFill>
            <a:srgbClr val="FFBD2E"/>
          </a:solidFill>
          <a:ln w="12700">
            <a:solidFill>
              <a:srgbClr val="FFBD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7"/>
          <p:cNvSpPr/>
          <p:nvPr/>
        </p:nvSpPr>
        <p:spPr>
          <a:xfrm>
            <a:off x="5321808" y="1426464"/>
            <a:ext cx="109728" cy="109728"/>
          </a:xfrm>
          <a:prstGeom prst="ellipse">
            <a:avLst/>
          </a:prstGeom>
          <a:solidFill>
            <a:srgbClr val="28CA41"/>
          </a:solidFill>
          <a:ln w="12700">
            <a:solidFill>
              <a:srgbClr val="28CA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8"/>
          <p:cNvSpPr/>
          <p:nvPr/>
        </p:nvSpPr>
        <p:spPr>
          <a:xfrm>
            <a:off x="4919472" y="1618488"/>
            <a:ext cx="3739896" cy="30540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95D5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A document in the 'recipes' collection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95D5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95D5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"_id": ObjectId("635f3b9b..."),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95D5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"name": "Chicken Adobo",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95D5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"servings": 4,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95D5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"ingredients": [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95D5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{ "name": "Chicken",   "qty": "1 kg"    },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95D5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{ "name": "Soy Sauce", "qty": "1/2 cup" }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95D5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],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95D5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"createdAt": ISODate("2024-01-15")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95D5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50" dirty="0"/>
          </a:p>
          <a:p>
            <a:pPr marL="0" indent="0" algn="l">
              <a:buNone/>
            </a:pP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95D5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Each document can have a different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95D5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structure — no fixed schema required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A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4731"/>
          </a:solidFill>
          <a:ln w="12700">
            <a:solidFill>
              <a:srgbClr val="1A473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365760" y="164592"/>
            <a:ext cx="914400" cy="347472"/>
          </a:xfrm>
          <a:prstGeom prst="roundRect">
            <a:avLst>
              <a:gd name="adj" fmla="val 13158"/>
            </a:avLst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164592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47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417320" y="91440"/>
            <a:ext cx="7406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MONGOOSE — THE ODM LAYER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47472" y="868680"/>
            <a:ext cx="4160520" cy="2514600"/>
          </a:xfrm>
          <a:prstGeom prst="roundRect">
            <a:avLst>
              <a:gd name="adj" fmla="val 3636"/>
            </a:avLst>
          </a:prstGeom>
          <a:solidFill>
            <a:srgbClr val="1A4731"/>
          </a:solidFill>
          <a:ln w="12700">
            <a:solidFill>
              <a:srgbClr val="1A4731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072" y="1069848"/>
            <a:ext cx="411480" cy="4114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97280" y="1033272"/>
            <a:ext cx="3246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2B7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Mongoose?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576072" y="1527048"/>
            <a:ext cx="3703320" cy="18288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576072" y="1618488"/>
            <a:ext cx="3703320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A8DA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Mongoose is an ODM (Object Data Modeling) library for MongoDB.</a:t>
            </a:r>
            <a:endParaRPr lang="en-US" sz="1100" dirty="0"/>
          </a:p>
          <a:p>
            <a:pPr marL="0" indent="0" algn="l">
              <a:buNone/>
            </a:pP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A8DA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adds schema validation, data modeling, and business logic hooks on top of the raw MongoDB driver.</a:t>
            </a:r>
            <a:endParaRPr lang="en-US" sz="1100" dirty="0"/>
          </a:p>
          <a:p>
            <a:pPr marL="0" indent="0" algn="l">
              <a:buNone/>
            </a:pP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A8DA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Analogy: Raw MongoDB is raw electricity — powerful but dangerous. Mongoose is your home appliance — safe and structured.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347472" y="3529584"/>
            <a:ext cx="1298448" cy="1261872"/>
          </a:xfrm>
          <a:prstGeom prst="roundRect">
            <a:avLst>
              <a:gd name="adj" fmla="val 5797"/>
            </a:avLst>
          </a:prstGeom>
          <a:solidFill>
            <a:srgbClr val="D8F3DC"/>
          </a:solidFill>
          <a:ln w="12700">
            <a:solidFill>
              <a:srgbClr val="A8DABC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822960" y="3639312"/>
            <a:ext cx="274320" cy="274320"/>
          </a:xfrm>
          <a:prstGeom prst="ellipse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457200" y="4005072"/>
            <a:ext cx="11155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47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Schema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457200" y="4315968"/>
            <a:ext cx="111556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3D6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Defines fields, types, and validation rules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1773936" y="3529584"/>
            <a:ext cx="1298448" cy="1261872"/>
          </a:xfrm>
          <a:prstGeom prst="roundRect">
            <a:avLst>
              <a:gd name="adj" fmla="val 5797"/>
            </a:avLst>
          </a:prstGeom>
          <a:solidFill>
            <a:srgbClr val="D8F3DC"/>
          </a:solidFill>
          <a:ln w="12700">
            <a:solidFill>
              <a:srgbClr val="A8DABC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3"/>
          <p:cNvSpPr/>
          <p:nvPr/>
        </p:nvSpPr>
        <p:spPr>
          <a:xfrm>
            <a:off x="2249424" y="3639312"/>
            <a:ext cx="274320" cy="274320"/>
          </a:xfrm>
          <a:prstGeom prst="ellipse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1883664" y="4005072"/>
            <a:ext cx="11155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47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1883664" y="4315968"/>
            <a:ext cx="111556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3D6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Constructor used to perform CRUD on a collection</a:t>
            </a:r>
            <a:endParaRPr lang="en-US" sz="850" dirty="0"/>
          </a:p>
        </p:txBody>
      </p:sp>
      <p:sp>
        <p:nvSpPr>
          <p:cNvPr id="19" name="Shape 16"/>
          <p:cNvSpPr/>
          <p:nvPr/>
        </p:nvSpPr>
        <p:spPr>
          <a:xfrm>
            <a:off x="3200400" y="3529584"/>
            <a:ext cx="1298448" cy="1261872"/>
          </a:xfrm>
          <a:prstGeom prst="roundRect">
            <a:avLst>
              <a:gd name="adj" fmla="val 5797"/>
            </a:avLst>
          </a:prstGeom>
          <a:solidFill>
            <a:srgbClr val="D8F3DC"/>
          </a:solidFill>
          <a:ln w="12700">
            <a:solidFill>
              <a:srgbClr val="A8DABC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7"/>
          <p:cNvSpPr/>
          <p:nvPr/>
        </p:nvSpPr>
        <p:spPr>
          <a:xfrm>
            <a:off x="3675888" y="3639312"/>
            <a:ext cx="274320" cy="274320"/>
          </a:xfrm>
          <a:prstGeom prst="ellipse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3310128" y="4005072"/>
            <a:ext cx="11155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47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Validate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3310128" y="4315968"/>
            <a:ext cx="111556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3D6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Enforces required fields and data types before saving</a:t>
            </a:r>
            <a:endParaRPr lang="en-US" sz="850" dirty="0"/>
          </a:p>
        </p:txBody>
      </p:sp>
      <p:sp>
        <p:nvSpPr>
          <p:cNvPr id="23" name="Text 20"/>
          <p:cNvSpPr/>
          <p:nvPr/>
        </p:nvSpPr>
        <p:spPr>
          <a:xfrm>
            <a:off x="4754880" y="868680"/>
            <a:ext cx="4069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47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Defining a Schema &amp; Model</a:t>
            </a:r>
            <a:endParaRPr lang="en-US" sz="1300" dirty="0"/>
          </a:p>
        </p:txBody>
      </p:sp>
      <p:sp>
        <p:nvSpPr>
          <p:cNvPr id="24" name="Shape 21"/>
          <p:cNvSpPr/>
          <p:nvPr/>
        </p:nvSpPr>
        <p:spPr>
          <a:xfrm>
            <a:off x="4754880" y="1298448"/>
            <a:ext cx="4069080" cy="3511296"/>
          </a:xfrm>
          <a:prstGeom prst="roundRect">
            <a:avLst>
              <a:gd name="adj" fmla="val 2083"/>
            </a:avLst>
          </a:prstGeom>
          <a:solidFill>
            <a:srgbClr val="0D1F14"/>
          </a:solidFill>
          <a:ln w="12700">
            <a:solidFill>
              <a:srgbClr val="2D6A4F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2"/>
          <p:cNvSpPr/>
          <p:nvPr/>
        </p:nvSpPr>
        <p:spPr>
          <a:xfrm>
            <a:off x="4919472" y="1426464"/>
            <a:ext cx="109728" cy="109728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3"/>
          <p:cNvSpPr/>
          <p:nvPr/>
        </p:nvSpPr>
        <p:spPr>
          <a:xfrm>
            <a:off x="5120640" y="1426464"/>
            <a:ext cx="109728" cy="109728"/>
          </a:xfrm>
          <a:prstGeom prst="ellipse">
            <a:avLst/>
          </a:prstGeom>
          <a:solidFill>
            <a:srgbClr val="FFBD2E"/>
          </a:solidFill>
          <a:ln w="12700">
            <a:solidFill>
              <a:srgbClr val="FFBD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4"/>
          <p:cNvSpPr/>
          <p:nvPr/>
        </p:nvSpPr>
        <p:spPr>
          <a:xfrm>
            <a:off x="5321808" y="1426464"/>
            <a:ext cx="109728" cy="109728"/>
          </a:xfrm>
          <a:prstGeom prst="ellipse">
            <a:avLst/>
          </a:prstGeom>
          <a:solidFill>
            <a:srgbClr val="28CA41"/>
          </a:solidFill>
          <a:ln w="12700">
            <a:solidFill>
              <a:srgbClr val="28CA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5"/>
          <p:cNvSpPr/>
          <p:nvPr/>
        </p:nvSpPr>
        <p:spPr>
          <a:xfrm>
            <a:off x="4919472" y="1618488"/>
            <a:ext cx="3739896" cy="30540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95D5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models/Recipe.js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95D5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mongoose = require('mongoose');</a:t>
            </a:r>
            <a:endParaRPr lang="en-US" sz="850" dirty="0"/>
          </a:p>
          <a:p>
            <a:pPr marL="0" indent="0" algn="l">
              <a:buNone/>
            </a:pP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95D5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recipeSchema = new mongoose.Schema({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95D5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name: {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95D5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type: String,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95D5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required: [true, 'Name required.'],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95D5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},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95D5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ingredients: {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95D5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type: [String],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95D5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required: true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95D5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},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95D5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createdAt: {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95D5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type: Date, default: Date.now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95D5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95D5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850" dirty="0"/>
          </a:p>
          <a:p>
            <a:pPr marL="0" indent="0" algn="l">
              <a:buNone/>
            </a:pP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95D5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Compile into a Model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95D5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Recipe =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95D5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mongoose.model('Recipe', recipeSchema);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95D5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module.exports = Recipe;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A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4731"/>
          </a:solidFill>
          <a:ln w="12700">
            <a:solidFill>
              <a:srgbClr val="1A473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365760" y="164592"/>
            <a:ext cx="914400" cy="347472"/>
          </a:xfrm>
          <a:prstGeom prst="roundRect">
            <a:avLst>
              <a:gd name="adj" fmla="val 13158"/>
            </a:avLst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164592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47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417320" y="91440"/>
            <a:ext cx="7406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INTEGRATING MONGODB WITH NODE.JS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47472" y="868680"/>
            <a:ext cx="4160520" cy="1549908"/>
          </a:xfrm>
          <a:prstGeom prst="roundRect">
            <a:avLst>
              <a:gd name="adj" fmla="val 5319"/>
            </a:avLst>
          </a:prstGeom>
          <a:solidFill>
            <a:srgbClr val="1A4731"/>
          </a:solidFill>
          <a:ln w="12700">
            <a:solidFill>
              <a:srgbClr val="1A4731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072" y="1069848"/>
            <a:ext cx="411480" cy="370989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97280" y="1033272"/>
            <a:ext cx="3246120" cy="3462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2B7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Connecting to MongoDB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576072" y="1527047"/>
            <a:ext cx="3703320" cy="45719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576072" y="1618488"/>
            <a:ext cx="3703320" cy="72548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A8DA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once at server startup using mongoose.connect().</a:t>
            </a:r>
            <a:endParaRPr lang="en-US" sz="1100" dirty="0"/>
          </a:p>
          <a:p>
            <a:pPr marL="0" indent="0" algn="l">
              <a:buNone/>
            </a:pP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A8DA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DB operations are async — route handlers must use async/await and wrap every call in try...catch.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347472" y="2506084"/>
            <a:ext cx="416052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A8DABC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475488" y="2634100"/>
            <a:ext cx="329184" cy="329184"/>
          </a:xfrm>
          <a:prstGeom prst="ellipse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475488" y="26341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47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932688" y="2597524"/>
            <a:ext cx="345643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once at startup with mongoose.connect()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347472" y="3164452"/>
            <a:ext cx="416052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A8DABC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3"/>
          <p:cNvSpPr/>
          <p:nvPr/>
        </p:nvSpPr>
        <p:spPr>
          <a:xfrm>
            <a:off x="475488" y="3292468"/>
            <a:ext cx="329184" cy="329184"/>
          </a:xfrm>
          <a:prstGeom prst="ellipse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475488" y="329246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47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932688" y="3255892"/>
            <a:ext cx="345643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DB operations are async — use await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347472" y="3822820"/>
            <a:ext cx="416052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A8DABC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7"/>
          <p:cNvSpPr/>
          <p:nvPr/>
        </p:nvSpPr>
        <p:spPr>
          <a:xfrm>
            <a:off x="475488" y="3950836"/>
            <a:ext cx="329184" cy="329184"/>
          </a:xfrm>
          <a:prstGeom prst="ellipse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475488" y="395083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47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932688" y="3914260"/>
            <a:ext cx="345643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handlers must be async functions</a:t>
            </a:r>
            <a:endParaRPr lang="en-US" sz="1050" dirty="0"/>
          </a:p>
        </p:txBody>
      </p:sp>
      <p:sp>
        <p:nvSpPr>
          <p:cNvPr id="23" name="Shape 20"/>
          <p:cNvSpPr/>
          <p:nvPr/>
        </p:nvSpPr>
        <p:spPr>
          <a:xfrm>
            <a:off x="347472" y="4481188"/>
            <a:ext cx="416052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A8DABC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21"/>
          <p:cNvSpPr/>
          <p:nvPr/>
        </p:nvSpPr>
        <p:spPr>
          <a:xfrm>
            <a:off x="475488" y="4609204"/>
            <a:ext cx="329184" cy="329184"/>
          </a:xfrm>
          <a:prstGeom prst="ellipse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2"/>
          <p:cNvSpPr/>
          <p:nvPr/>
        </p:nvSpPr>
        <p:spPr>
          <a:xfrm>
            <a:off x="475488" y="460920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47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932688" y="4572628"/>
            <a:ext cx="345643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 every await in try...catch</a:t>
            </a:r>
            <a:endParaRPr lang="en-US" sz="1050" dirty="0"/>
          </a:p>
        </p:txBody>
      </p:sp>
      <p:sp>
        <p:nvSpPr>
          <p:cNvPr id="27" name="Text 24"/>
          <p:cNvSpPr/>
          <p:nvPr/>
        </p:nvSpPr>
        <p:spPr>
          <a:xfrm>
            <a:off x="4754880" y="868680"/>
            <a:ext cx="4069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47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Connection + Async Route</a:t>
            </a:r>
            <a:endParaRPr lang="en-US" sz="1300" dirty="0"/>
          </a:p>
        </p:txBody>
      </p:sp>
      <p:sp>
        <p:nvSpPr>
          <p:cNvPr id="28" name="Shape 25"/>
          <p:cNvSpPr/>
          <p:nvPr/>
        </p:nvSpPr>
        <p:spPr>
          <a:xfrm>
            <a:off x="4754880" y="1298448"/>
            <a:ext cx="4069080" cy="3511296"/>
          </a:xfrm>
          <a:prstGeom prst="roundRect">
            <a:avLst>
              <a:gd name="adj" fmla="val 2083"/>
            </a:avLst>
          </a:prstGeom>
          <a:solidFill>
            <a:srgbClr val="0D1F14"/>
          </a:solidFill>
          <a:ln w="12700">
            <a:solidFill>
              <a:srgbClr val="2D6A4F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Shape 26"/>
          <p:cNvSpPr/>
          <p:nvPr/>
        </p:nvSpPr>
        <p:spPr>
          <a:xfrm>
            <a:off x="4919472" y="1426464"/>
            <a:ext cx="109728" cy="109728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7"/>
          <p:cNvSpPr/>
          <p:nvPr/>
        </p:nvSpPr>
        <p:spPr>
          <a:xfrm>
            <a:off x="5120640" y="1426464"/>
            <a:ext cx="109728" cy="109728"/>
          </a:xfrm>
          <a:prstGeom prst="ellipse">
            <a:avLst/>
          </a:prstGeom>
          <a:solidFill>
            <a:srgbClr val="FFBD2E"/>
          </a:solidFill>
          <a:ln w="12700">
            <a:solidFill>
              <a:srgbClr val="FFBD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8"/>
          <p:cNvSpPr/>
          <p:nvPr/>
        </p:nvSpPr>
        <p:spPr>
          <a:xfrm>
            <a:off x="5321808" y="1426464"/>
            <a:ext cx="109728" cy="109728"/>
          </a:xfrm>
          <a:prstGeom prst="ellipse">
            <a:avLst/>
          </a:prstGeom>
          <a:solidFill>
            <a:srgbClr val="28CA41"/>
          </a:solidFill>
          <a:ln w="12700">
            <a:solidFill>
              <a:srgbClr val="28CA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29"/>
          <p:cNvSpPr/>
          <p:nvPr/>
        </p:nvSpPr>
        <p:spPr>
          <a:xfrm>
            <a:off x="4919472" y="1618488"/>
            <a:ext cx="3739896" cy="30540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95D5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server.js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95D5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mongoose.connect(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95D5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'mongodb://localhost:27017/recipeDB'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95D5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).then(() =&gt;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95D5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console.log('Connected to MongoDB')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95D5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950" dirty="0"/>
          </a:p>
          <a:p>
            <a:pPr marL="0" indent="0" algn="l">
              <a:buNone/>
            </a:pP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95D5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Async route with try...catch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95D5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app.get('/api/recipes', async (req, res) =&gt; {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95D5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try {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95D5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const recipes = await Recipe.find();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95D5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res.status(200).json(recipes);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95D5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 catch (error) {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95D5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res.status(500).json({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95D5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message: 'Error fetching recipes'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95D5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});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95D5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95D5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A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4731"/>
          </a:solidFill>
          <a:ln w="12700">
            <a:solidFill>
              <a:srgbClr val="1A473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365760" y="164592"/>
            <a:ext cx="914400" cy="347472"/>
          </a:xfrm>
          <a:prstGeom prst="roundRect">
            <a:avLst>
              <a:gd name="adj" fmla="val 13158"/>
            </a:avLst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164592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47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417320" y="91440"/>
            <a:ext cx="7406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RESTFUL CRUD WITH MONGOOSE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47472" y="868680"/>
            <a:ext cx="4160520" cy="1389888"/>
          </a:xfrm>
          <a:prstGeom prst="roundRect">
            <a:avLst>
              <a:gd name="adj" fmla="val 6579"/>
            </a:avLst>
          </a:prstGeom>
          <a:solidFill>
            <a:srgbClr val="1A4731"/>
          </a:solidFill>
          <a:ln w="12700">
            <a:solidFill>
              <a:srgbClr val="1A4731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072" y="1069848"/>
            <a:ext cx="411480" cy="4114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97280" y="1033272"/>
            <a:ext cx="3246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2B7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Mongoose Model Methods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576072" y="1527048"/>
            <a:ext cx="3703320" cy="18288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576072" y="1618488"/>
            <a:ext cx="3703320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A8DA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CRUD operation maps to a Mongoose method. All return Promises — always use await.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347472" y="2322735"/>
            <a:ext cx="4160520" cy="493776"/>
          </a:xfrm>
          <a:prstGeom prst="roundRect">
            <a:avLst>
              <a:gd name="adj" fmla="val 9259"/>
            </a:avLst>
          </a:prstGeom>
          <a:solidFill>
            <a:srgbClr val="D8F3DC"/>
          </a:solidFill>
          <a:ln w="12700">
            <a:solidFill>
              <a:srgbClr val="A8DAB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457200" y="2405031"/>
            <a:ext cx="749808" cy="329184"/>
          </a:xfrm>
          <a:prstGeom prst="roundRect">
            <a:avLst>
              <a:gd name="adj" fmla="val 11111"/>
            </a:avLst>
          </a:prstGeom>
          <a:solidFill>
            <a:srgbClr val="1A4731"/>
          </a:solidFill>
          <a:ln w="12700">
            <a:solidFill>
              <a:srgbClr val="1A473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457200" y="2405031"/>
            <a:ext cx="7498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</a:t>
            </a:r>
            <a:endParaRPr lang="en-US" sz="750" dirty="0"/>
          </a:p>
        </p:txBody>
      </p:sp>
      <p:sp>
        <p:nvSpPr>
          <p:cNvPr id="14" name="Text 11"/>
          <p:cNvSpPr/>
          <p:nvPr/>
        </p:nvSpPr>
        <p:spPr>
          <a:xfrm>
            <a:off x="1316736" y="2414175"/>
            <a:ext cx="6400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D6A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2011680" y="2414175"/>
            <a:ext cx="23774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2E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 Recipe(req.body)  +  .save()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347472" y="2889663"/>
            <a:ext cx="4160520" cy="493776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 w="12700">
            <a:solidFill>
              <a:srgbClr val="A8DAB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4"/>
          <p:cNvSpPr/>
          <p:nvPr/>
        </p:nvSpPr>
        <p:spPr>
          <a:xfrm>
            <a:off x="457200" y="2971959"/>
            <a:ext cx="749808" cy="329184"/>
          </a:xfrm>
          <a:prstGeom prst="roundRect">
            <a:avLst>
              <a:gd name="adj" fmla="val 11111"/>
            </a:avLst>
          </a:prstGeom>
          <a:solidFill>
            <a:srgbClr val="1A4731"/>
          </a:solidFill>
          <a:ln w="12700">
            <a:solidFill>
              <a:srgbClr val="1A473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457200" y="2971959"/>
            <a:ext cx="7498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ALL</a:t>
            </a:r>
            <a:endParaRPr lang="en-US" sz="750" dirty="0"/>
          </a:p>
        </p:txBody>
      </p:sp>
      <p:sp>
        <p:nvSpPr>
          <p:cNvPr id="19" name="Text 16"/>
          <p:cNvSpPr/>
          <p:nvPr/>
        </p:nvSpPr>
        <p:spPr>
          <a:xfrm>
            <a:off x="1316736" y="2981103"/>
            <a:ext cx="6400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D6A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</a:t>
            </a:r>
            <a:endParaRPr lang="en-US" sz="950" dirty="0"/>
          </a:p>
        </p:txBody>
      </p:sp>
      <p:sp>
        <p:nvSpPr>
          <p:cNvPr id="20" name="Text 17"/>
          <p:cNvSpPr/>
          <p:nvPr/>
        </p:nvSpPr>
        <p:spPr>
          <a:xfrm>
            <a:off x="2011680" y="2981103"/>
            <a:ext cx="23774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2E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Recipe.find()</a:t>
            </a:r>
            <a:endParaRPr lang="en-US" sz="900" dirty="0"/>
          </a:p>
        </p:txBody>
      </p:sp>
      <p:sp>
        <p:nvSpPr>
          <p:cNvPr id="21" name="Shape 18"/>
          <p:cNvSpPr/>
          <p:nvPr/>
        </p:nvSpPr>
        <p:spPr>
          <a:xfrm>
            <a:off x="347472" y="3456591"/>
            <a:ext cx="4160520" cy="493776"/>
          </a:xfrm>
          <a:prstGeom prst="roundRect">
            <a:avLst>
              <a:gd name="adj" fmla="val 9259"/>
            </a:avLst>
          </a:prstGeom>
          <a:solidFill>
            <a:srgbClr val="D8F3DC"/>
          </a:solidFill>
          <a:ln w="12700">
            <a:solidFill>
              <a:srgbClr val="A8DAB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19"/>
          <p:cNvSpPr/>
          <p:nvPr/>
        </p:nvSpPr>
        <p:spPr>
          <a:xfrm>
            <a:off x="457200" y="3538887"/>
            <a:ext cx="749808" cy="329184"/>
          </a:xfrm>
          <a:prstGeom prst="roundRect">
            <a:avLst>
              <a:gd name="adj" fmla="val 11111"/>
            </a:avLst>
          </a:prstGeom>
          <a:solidFill>
            <a:srgbClr val="1A4731"/>
          </a:solidFill>
          <a:ln w="12700">
            <a:solidFill>
              <a:srgbClr val="1A473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/>
          <p:nvPr/>
        </p:nvSpPr>
        <p:spPr>
          <a:xfrm>
            <a:off x="457200" y="3538887"/>
            <a:ext cx="7498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ONE</a:t>
            </a:r>
            <a:endParaRPr lang="en-US" sz="750" dirty="0"/>
          </a:p>
        </p:txBody>
      </p:sp>
      <p:sp>
        <p:nvSpPr>
          <p:cNvPr id="24" name="Text 21"/>
          <p:cNvSpPr/>
          <p:nvPr/>
        </p:nvSpPr>
        <p:spPr>
          <a:xfrm>
            <a:off x="1316736" y="3548031"/>
            <a:ext cx="6400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D6A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</a:t>
            </a:r>
            <a:endParaRPr lang="en-US" sz="950" dirty="0"/>
          </a:p>
        </p:txBody>
      </p:sp>
      <p:sp>
        <p:nvSpPr>
          <p:cNvPr id="25" name="Text 22"/>
          <p:cNvSpPr/>
          <p:nvPr/>
        </p:nvSpPr>
        <p:spPr>
          <a:xfrm>
            <a:off x="2011680" y="3548031"/>
            <a:ext cx="23774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2E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Recipe.findById(req.params.id)</a:t>
            </a:r>
            <a:endParaRPr lang="en-US" sz="900" dirty="0"/>
          </a:p>
        </p:txBody>
      </p:sp>
      <p:sp>
        <p:nvSpPr>
          <p:cNvPr id="26" name="Shape 23"/>
          <p:cNvSpPr/>
          <p:nvPr/>
        </p:nvSpPr>
        <p:spPr>
          <a:xfrm>
            <a:off x="347472" y="4023519"/>
            <a:ext cx="4160520" cy="493776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 w="12700">
            <a:solidFill>
              <a:srgbClr val="A8DAB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4"/>
          <p:cNvSpPr/>
          <p:nvPr/>
        </p:nvSpPr>
        <p:spPr>
          <a:xfrm>
            <a:off x="457200" y="4105815"/>
            <a:ext cx="749808" cy="329184"/>
          </a:xfrm>
          <a:prstGeom prst="roundRect">
            <a:avLst>
              <a:gd name="adj" fmla="val 11111"/>
            </a:avLst>
          </a:prstGeom>
          <a:solidFill>
            <a:srgbClr val="1A4731"/>
          </a:solidFill>
          <a:ln w="12700">
            <a:solidFill>
              <a:srgbClr val="1A473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5"/>
          <p:cNvSpPr/>
          <p:nvPr/>
        </p:nvSpPr>
        <p:spPr>
          <a:xfrm>
            <a:off x="457200" y="4105815"/>
            <a:ext cx="7498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</a:t>
            </a:r>
            <a:endParaRPr lang="en-US" sz="750" dirty="0"/>
          </a:p>
        </p:txBody>
      </p:sp>
      <p:sp>
        <p:nvSpPr>
          <p:cNvPr id="29" name="Text 26"/>
          <p:cNvSpPr/>
          <p:nvPr/>
        </p:nvSpPr>
        <p:spPr>
          <a:xfrm>
            <a:off x="1316736" y="4114959"/>
            <a:ext cx="6400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D6A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PUT</a:t>
            </a:r>
            <a:endParaRPr lang="en-US" sz="950" dirty="0"/>
          </a:p>
        </p:txBody>
      </p:sp>
      <p:sp>
        <p:nvSpPr>
          <p:cNvPr id="30" name="Text 27"/>
          <p:cNvSpPr/>
          <p:nvPr/>
        </p:nvSpPr>
        <p:spPr>
          <a:xfrm>
            <a:off x="2011680" y="4114959"/>
            <a:ext cx="23774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2E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Recipe.findByIdAndUpdate(id, body)</a:t>
            </a:r>
            <a:endParaRPr lang="en-US" sz="900" dirty="0"/>
          </a:p>
        </p:txBody>
      </p:sp>
      <p:sp>
        <p:nvSpPr>
          <p:cNvPr id="31" name="Shape 28"/>
          <p:cNvSpPr/>
          <p:nvPr/>
        </p:nvSpPr>
        <p:spPr>
          <a:xfrm>
            <a:off x="347472" y="4590447"/>
            <a:ext cx="4160520" cy="493776"/>
          </a:xfrm>
          <a:prstGeom prst="roundRect">
            <a:avLst>
              <a:gd name="adj" fmla="val 9259"/>
            </a:avLst>
          </a:prstGeom>
          <a:solidFill>
            <a:srgbClr val="D8F3DC"/>
          </a:solidFill>
          <a:ln w="12700">
            <a:solidFill>
              <a:srgbClr val="A8DAB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29"/>
          <p:cNvSpPr/>
          <p:nvPr/>
        </p:nvSpPr>
        <p:spPr>
          <a:xfrm>
            <a:off x="457200" y="4672743"/>
            <a:ext cx="749808" cy="329184"/>
          </a:xfrm>
          <a:prstGeom prst="roundRect">
            <a:avLst>
              <a:gd name="adj" fmla="val 11111"/>
            </a:avLst>
          </a:prstGeom>
          <a:solidFill>
            <a:srgbClr val="1A4731"/>
          </a:solidFill>
          <a:ln w="12700">
            <a:solidFill>
              <a:srgbClr val="1A473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0"/>
          <p:cNvSpPr/>
          <p:nvPr/>
        </p:nvSpPr>
        <p:spPr>
          <a:xfrm>
            <a:off x="457200" y="4672743"/>
            <a:ext cx="7498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</a:t>
            </a:r>
            <a:endParaRPr lang="en-US" sz="750" dirty="0"/>
          </a:p>
        </p:txBody>
      </p:sp>
      <p:sp>
        <p:nvSpPr>
          <p:cNvPr id="34" name="Text 31"/>
          <p:cNvSpPr/>
          <p:nvPr/>
        </p:nvSpPr>
        <p:spPr>
          <a:xfrm>
            <a:off x="1316736" y="4681887"/>
            <a:ext cx="6400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D6A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DELETE</a:t>
            </a:r>
            <a:endParaRPr lang="en-US" sz="950" dirty="0"/>
          </a:p>
        </p:txBody>
      </p:sp>
      <p:sp>
        <p:nvSpPr>
          <p:cNvPr id="35" name="Text 32"/>
          <p:cNvSpPr/>
          <p:nvPr/>
        </p:nvSpPr>
        <p:spPr>
          <a:xfrm>
            <a:off x="2011680" y="4681887"/>
            <a:ext cx="23774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2E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Recipe.findByIdAndDelete(id)</a:t>
            </a:r>
            <a:endParaRPr lang="en-US" sz="900" dirty="0"/>
          </a:p>
        </p:txBody>
      </p:sp>
      <p:sp>
        <p:nvSpPr>
          <p:cNvPr id="36" name="Text 33"/>
          <p:cNvSpPr/>
          <p:nvPr/>
        </p:nvSpPr>
        <p:spPr>
          <a:xfrm>
            <a:off x="4754880" y="868680"/>
            <a:ext cx="4069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47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Full CRUD Route Example</a:t>
            </a:r>
            <a:endParaRPr lang="en-US" sz="1300" dirty="0"/>
          </a:p>
        </p:txBody>
      </p:sp>
      <p:sp>
        <p:nvSpPr>
          <p:cNvPr id="37" name="Shape 34"/>
          <p:cNvSpPr/>
          <p:nvPr/>
        </p:nvSpPr>
        <p:spPr>
          <a:xfrm>
            <a:off x="4754880" y="1298448"/>
            <a:ext cx="4069080" cy="3511296"/>
          </a:xfrm>
          <a:prstGeom prst="roundRect">
            <a:avLst>
              <a:gd name="adj" fmla="val 2083"/>
            </a:avLst>
          </a:prstGeom>
          <a:solidFill>
            <a:srgbClr val="0D1F14"/>
          </a:solidFill>
          <a:ln w="12700">
            <a:solidFill>
              <a:srgbClr val="2D6A4F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8" name="Shape 35"/>
          <p:cNvSpPr/>
          <p:nvPr/>
        </p:nvSpPr>
        <p:spPr>
          <a:xfrm>
            <a:off x="4919472" y="1426464"/>
            <a:ext cx="109728" cy="109728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Shape 36"/>
          <p:cNvSpPr/>
          <p:nvPr/>
        </p:nvSpPr>
        <p:spPr>
          <a:xfrm>
            <a:off x="5120640" y="1426464"/>
            <a:ext cx="109728" cy="109728"/>
          </a:xfrm>
          <a:prstGeom prst="ellipse">
            <a:avLst/>
          </a:prstGeom>
          <a:solidFill>
            <a:srgbClr val="FFBD2E"/>
          </a:solidFill>
          <a:ln w="12700">
            <a:solidFill>
              <a:srgbClr val="FFBD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Shape 37"/>
          <p:cNvSpPr/>
          <p:nvPr/>
        </p:nvSpPr>
        <p:spPr>
          <a:xfrm>
            <a:off x="5321808" y="1426464"/>
            <a:ext cx="109728" cy="109728"/>
          </a:xfrm>
          <a:prstGeom prst="ellipse">
            <a:avLst/>
          </a:prstGeom>
          <a:solidFill>
            <a:srgbClr val="28CA41"/>
          </a:solidFill>
          <a:ln w="12700">
            <a:solidFill>
              <a:srgbClr val="28CA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8"/>
          <p:cNvSpPr/>
          <p:nvPr/>
        </p:nvSpPr>
        <p:spPr>
          <a:xfrm>
            <a:off x="4919472" y="1618488"/>
            <a:ext cx="3739896" cy="30540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95D5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CREATE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95D5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app.post('/api/recipes', async (req, res) =&gt; {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95D5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recipe = new Recipe(req.body);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95D5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await recipe.save();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95D5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res.status(201).json(recipe);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95D5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850" dirty="0"/>
          </a:p>
          <a:p>
            <a:pPr marL="0" indent="0" algn="l">
              <a:buNone/>
            </a:pP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95D5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READ ONE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95D5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app.get('/api/recipes/:id',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95D5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async (req, res) =&gt; {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95D5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r = await Recipe.findById(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95D5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req.params.id);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95D5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res.json(r);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95D5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850" dirty="0"/>
          </a:p>
          <a:p>
            <a:pPr marL="0" indent="0" algn="l">
              <a:buNone/>
            </a:pP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95D5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UPDATE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95D5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app.put('/api/recipes/:id',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95D5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async (req, res) =&gt; {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95D5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updated = await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95D5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Recipe.findByIdAndUpdate(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95D5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req.params.id, req.body,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95D5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{ new: true });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95D5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res.json(updated);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95D5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A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4731"/>
          </a:solidFill>
          <a:ln w="12700">
            <a:solidFill>
              <a:srgbClr val="1A473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365760" y="164592"/>
            <a:ext cx="914400" cy="347472"/>
          </a:xfrm>
          <a:prstGeom prst="roundRect">
            <a:avLst>
              <a:gd name="adj" fmla="val 13158"/>
            </a:avLst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164592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47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5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417320" y="91440"/>
            <a:ext cx="7406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ERROR HANDLING &amp; DEBUGGING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47472" y="868680"/>
            <a:ext cx="4160520" cy="1399032"/>
          </a:xfrm>
          <a:prstGeom prst="roundRect">
            <a:avLst>
              <a:gd name="adj" fmla="val 5814"/>
            </a:avLst>
          </a:prstGeom>
          <a:solidFill>
            <a:srgbClr val="1A4731"/>
          </a:solidFill>
          <a:ln w="12700">
            <a:solidFill>
              <a:srgbClr val="1A4731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072" y="1069848"/>
            <a:ext cx="411480" cy="36602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97280" y="1033272"/>
            <a:ext cx="3246120" cy="341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2B7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Resilient Code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576072" y="1527047"/>
            <a:ext cx="3703320" cy="45719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576072" y="1618488"/>
            <a:ext cx="3703320" cy="58564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A8DA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calls fail. Wrap every await in try...catch. Mongoose surfaces specific error types — use them to send the correct HTTP status code.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347472" y="2391043"/>
            <a:ext cx="416052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A8DABC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457200" y="2500771"/>
            <a:ext cx="566928" cy="274320"/>
          </a:xfrm>
          <a:prstGeom prst="roundRect">
            <a:avLst>
              <a:gd name="adj" fmla="val 13333"/>
            </a:avLst>
          </a:prstGeom>
          <a:solidFill>
            <a:srgbClr val="2D6A4F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457200" y="2500771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1133856" y="2482483"/>
            <a:ext cx="325526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473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try...catch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475488" y="2829955"/>
            <a:ext cx="391363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D6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 ALL await calls. Mandatory for async operations. Send a 500 Internal Server Error on unexpected failures.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347472" y="3305443"/>
            <a:ext cx="416052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A8DABC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4"/>
          <p:cNvSpPr/>
          <p:nvPr/>
        </p:nvSpPr>
        <p:spPr>
          <a:xfrm>
            <a:off x="457200" y="3415171"/>
            <a:ext cx="566928" cy="274320"/>
          </a:xfrm>
          <a:prstGeom prst="roundRect">
            <a:avLst>
              <a:gd name="adj" fmla="val 13333"/>
            </a:avLst>
          </a:prstGeom>
          <a:solidFill>
            <a:srgbClr val="D97706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457200" y="3415171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400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1133856" y="3396883"/>
            <a:ext cx="325526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473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ValidationError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475488" y="3744355"/>
            <a:ext cx="391363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D6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Thrown when user sends data that fails Mongoose schema rules. Catch and send a 400 Bad Request.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347472" y="4219843"/>
            <a:ext cx="416052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A8DABC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19"/>
          <p:cNvSpPr/>
          <p:nvPr/>
        </p:nvSpPr>
        <p:spPr>
          <a:xfrm>
            <a:off x="457200" y="4329571"/>
            <a:ext cx="566928" cy="274320"/>
          </a:xfrm>
          <a:prstGeom prst="roundRect">
            <a:avLst>
              <a:gd name="adj" fmla="val 13333"/>
            </a:avLst>
          </a:prstGeom>
          <a:solidFill>
            <a:srgbClr val="1A4731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/>
          <p:nvPr/>
        </p:nvSpPr>
        <p:spPr>
          <a:xfrm>
            <a:off x="457200" y="4329571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404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1133856" y="4311283"/>
            <a:ext cx="325526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473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CastError</a:t>
            </a:r>
            <a:endParaRPr lang="en-US" sz="1050" dirty="0"/>
          </a:p>
        </p:txBody>
      </p:sp>
      <p:sp>
        <p:nvSpPr>
          <p:cNvPr id="25" name="Text 22"/>
          <p:cNvSpPr/>
          <p:nvPr/>
        </p:nvSpPr>
        <p:spPr>
          <a:xfrm>
            <a:off x="475488" y="4658755"/>
            <a:ext cx="391363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D6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Thrown when an invalid MongoDB ObjectId format is received. Catch and send a 404 Not Found.</a:t>
            </a:r>
            <a:endParaRPr lang="en-US" sz="950" dirty="0"/>
          </a:p>
        </p:txBody>
      </p:sp>
      <p:sp>
        <p:nvSpPr>
          <p:cNvPr id="26" name="Text 23"/>
          <p:cNvSpPr/>
          <p:nvPr/>
        </p:nvSpPr>
        <p:spPr>
          <a:xfrm>
            <a:off x="4754880" y="868680"/>
            <a:ext cx="4069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47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Error Handling in Practice</a:t>
            </a:r>
            <a:endParaRPr lang="en-US" sz="1300" dirty="0"/>
          </a:p>
        </p:txBody>
      </p:sp>
      <p:sp>
        <p:nvSpPr>
          <p:cNvPr id="27" name="Shape 24"/>
          <p:cNvSpPr/>
          <p:nvPr/>
        </p:nvSpPr>
        <p:spPr>
          <a:xfrm>
            <a:off x="4754880" y="1298448"/>
            <a:ext cx="4069080" cy="3511296"/>
          </a:xfrm>
          <a:prstGeom prst="roundRect">
            <a:avLst>
              <a:gd name="adj" fmla="val 2083"/>
            </a:avLst>
          </a:prstGeom>
          <a:solidFill>
            <a:srgbClr val="0D1F14"/>
          </a:solidFill>
          <a:ln w="12700">
            <a:solidFill>
              <a:srgbClr val="2D6A4F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8" name="Shape 25"/>
          <p:cNvSpPr/>
          <p:nvPr/>
        </p:nvSpPr>
        <p:spPr>
          <a:xfrm>
            <a:off x="4919472" y="1426464"/>
            <a:ext cx="109728" cy="109728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6"/>
          <p:cNvSpPr/>
          <p:nvPr/>
        </p:nvSpPr>
        <p:spPr>
          <a:xfrm>
            <a:off x="5120640" y="1426464"/>
            <a:ext cx="109728" cy="109728"/>
          </a:xfrm>
          <a:prstGeom prst="ellipse">
            <a:avLst/>
          </a:prstGeom>
          <a:solidFill>
            <a:srgbClr val="FFBD2E"/>
          </a:solidFill>
          <a:ln w="12700">
            <a:solidFill>
              <a:srgbClr val="FFBD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7"/>
          <p:cNvSpPr/>
          <p:nvPr/>
        </p:nvSpPr>
        <p:spPr>
          <a:xfrm>
            <a:off x="5321808" y="1426464"/>
            <a:ext cx="109728" cy="109728"/>
          </a:xfrm>
          <a:prstGeom prst="ellipse">
            <a:avLst/>
          </a:prstGeom>
          <a:solidFill>
            <a:srgbClr val="28CA41"/>
          </a:solidFill>
          <a:ln w="12700">
            <a:solidFill>
              <a:srgbClr val="28CA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8"/>
          <p:cNvSpPr/>
          <p:nvPr/>
        </p:nvSpPr>
        <p:spPr>
          <a:xfrm>
            <a:off x="4919472" y="1618488"/>
            <a:ext cx="3739896" cy="30540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95D5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app.get('/api/recipes/:id',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95D5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async (req, res) =&gt; {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95D5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try {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95D5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const recipe = await Recipe.findById(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95D5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req.params.id);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95D5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(!recipe) {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95D5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return res.status(404).json(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95D5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{ message: 'Recipe not found' });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95D5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95D5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res.json(recipe);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95D5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 catch (err) {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95D5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CastError = bad ObjectId format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95D5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(err.name === 'CastError') {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95D5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return res.status(404).json(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95D5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{ message: 'Invalid ID format' });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95D5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95D5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res.status(500).json(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95D5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{ message: 'Server error' });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95D5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95D5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A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4731"/>
          </a:solidFill>
          <a:ln w="12700">
            <a:solidFill>
              <a:srgbClr val="1A473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365760" y="164592"/>
            <a:ext cx="914400" cy="347472"/>
          </a:xfrm>
          <a:prstGeom prst="roundRect">
            <a:avLst>
              <a:gd name="adj" fmla="val 13158"/>
            </a:avLst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164592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47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417320" y="91440"/>
            <a:ext cx="7406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FULL MERN STACK DATA FLOW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47472" y="767085"/>
            <a:ext cx="4069080" cy="1335024"/>
          </a:xfrm>
          <a:prstGeom prst="roundRect">
            <a:avLst>
              <a:gd name="adj" fmla="val 6849"/>
            </a:avLst>
          </a:prstGeom>
          <a:solidFill>
            <a:srgbClr val="FFFFFF"/>
          </a:solidFill>
          <a:ln w="12700">
            <a:solidFill>
              <a:srgbClr val="A8DABC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512064" y="931677"/>
            <a:ext cx="457200" cy="457200"/>
          </a:xfrm>
          <a:prstGeom prst="ellipse">
            <a:avLst/>
          </a:prstGeom>
          <a:solidFill>
            <a:srgbClr val="1A4731"/>
          </a:solidFill>
          <a:ln w="12700">
            <a:solidFill>
              <a:srgbClr val="1A473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12064" y="931677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52B7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97280" y="949965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47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React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12064" y="1425453"/>
            <a:ext cx="3749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D6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clicks Submit → sends fetch POST to backend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462272" y="1297437"/>
            <a:ext cx="219456" cy="256032"/>
          </a:xfrm>
          <a:prstGeom prst="roundRect">
            <a:avLst>
              <a:gd name="adj" fmla="val 16667"/>
            </a:avLst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462272" y="1297437"/>
            <a:ext cx="219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47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690872" y="767085"/>
            <a:ext cx="4069080" cy="1335024"/>
          </a:xfrm>
          <a:prstGeom prst="roundRect">
            <a:avLst>
              <a:gd name="adj" fmla="val 6849"/>
            </a:avLst>
          </a:prstGeom>
          <a:solidFill>
            <a:srgbClr val="FFFFFF"/>
          </a:solidFill>
          <a:ln w="12700">
            <a:solidFill>
              <a:srgbClr val="A8DABC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4855464" y="931677"/>
            <a:ext cx="457200" cy="457200"/>
          </a:xfrm>
          <a:prstGeom prst="ellipse">
            <a:avLst/>
          </a:prstGeom>
          <a:solidFill>
            <a:srgbClr val="1A4731"/>
          </a:solidFill>
          <a:ln w="12700">
            <a:solidFill>
              <a:srgbClr val="1A473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855464" y="931677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52B7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440680" y="949965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47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Express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855464" y="1425453"/>
            <a:ext cx="3749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D6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receives request, routes to handler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47472" y="2248413"/>
            <a:ext cx="4069080" cy="1335024"/>
          </a:xfrm>
          <a:prstGeom prst="roundRect">
            <a:avLst>
              <a:gd name="adj" fmla="val 6849"/>
            </a:avLst>
          </a:prstGeom>
          <a:solidFill>
            <a:srgbClr val="FFFFFF"/>
          </a:solidFill>
          <a:ln w="12700">
            <a:solidFill>
              <a:srgbClr val="A8DABC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512064" y="2413005"/>
            <a:ext cx="457200" cy="457200"/>
          </a:xfrm>
          <a:prstGeom prst="ellipse">
            <a:avLst/>
          </a:prstGeom>
          <a:solidFill>
            <a:srgbClr val="1A4731"/>
          </a:solidFill>
          <a:ln w="12700">
            <a:solidFill>
              <a:srgbClr val="1A473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512064" y="2413005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52B7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097280" y="2431293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47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Mongoose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12064" y="2906781"/>
            <a:ext cx="3749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D6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handler calls Model.save() or find()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462272" y="2778765"/>
            <a:ext cx="219456" cy="256032"/>
          </a:xfrm>
          <a:prstGeom prst="roundRect">
            <a:avLst>
              <a:gd name="adj" fmla="val 16667"/>
            </a:avLst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462272" y="2778765"/>
            <a:ext cx="219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47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690872" y="2248413"/>
            <a:ext cx="4069080" cy="1335024"/>
          </a:xfrm>
          <a:prstGeom prst="roundRect">
            <a:avLst>
              <a:gd name="adj" fmla="val 6849"/>
            </a:avLst>
          </a:prstGeom>
          <a:solidFill>
            <a:srgbClr val="FFFFFF"/>
          </a:solidFill>
          <a:ln w="12700">
            <a:solidFill>
              <a:srgbClr val="A8DABC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4855464" y="2413005"/>
            <a:ext cx="457200" cy="457200"/>
          </a:xfrm>
          <a:prstGeom prst="ellipse">
            <a:avLst/>
          </a:prstGeom>
          <a:solidFill>
            <a:srgbClr val="1A4731"/>
          </a:solidFill>
          <a:ln w="12700">
            <a:solidFill>
              <a:srgbClr val="1A473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4855464" y="2413005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52B7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5440680" y="2431293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47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MongoDB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4855464" y="2906781"/>
            <a:ext cx="3749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D6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executes the operation, returns result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347472" y="3729741"/>
            <a:ext cx="4069080" cy="1335024"/>
          </a:xfrm>
          <a:prstGeom prst="roundRect">
            <a:avLst>
              <a:gd name="adj" fmla="val 6849"/>
            </a:avLst>
          </a:prstGeom>
          <a:solidFill>
            <a:srgbClr val="FFFFFF"/>
          </a:solidFill>
          <a:ln w="12700">
            <a:solidFill>
              <a:srgbClr val="A8DABC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512064" y="3894333"/>
            <a:ext cx="457200" cy="457200"/>
          </a:xfrm>
          <a:prstGeom prst="ellipse">
            <a:avLst/>
          </a:prstGeom>
          <a:solidFill>
            <a:srgbClr val="1A4731"/>
          </a:solidFill>
          <a:ln w="12700">
            <a:solidFill>
              <a:srgbClr val="1A473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512064" y="3894333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52B7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1097280" y="3912621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47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Express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512064" y="4388109"/>
            <a:ext cx="3749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D6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Handler sends HTTP response (JSON) back to React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4462272" y="4260093"/>
            <a:ext cx="219456" cy="256032"/>
          </a:xfrm>
          <a:prstGeom prst="roundRect">
            <a:avLst>
              <a:gd name="adj" fmla="val 16667"/>
            </a:avLst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4462272" y="4260093"/>
            <a:ext cx="219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47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4690872" y="3729741"/>
            <a:ext cx="4069080" cy="1335024"/>
          </a:xfrm>
          <a:prstGeom prst="roundRect">
            <a:avLst>
              <a:gd name="adj" fmla="val 6849"/>
            </a:avLst>
          </a:prstGeom>
          <a:solidFill>
            <a:srgbClr val="FFFFFF"/>
          </a:solidFill>
          <a:ln w="12700">
            <a:solidFill>
              <a:srgbClr val="A8DABC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4855464" y="3894333"/>
            <a:ext cx="457200" cy="457200"/>
          </a:xfrm>
          <a:prstGeom prst="ellipse">
            <a:avLst/>
          </a:prstGeom>
          <a:solidFill>
            <a:srgbClr val="1A4731"/>
          </a:solidFill>
          <a:ln w="12700">
            <a:solidFill>
              <a:srgbClr val="1A473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4855464" y="3894333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52B7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5440680" y="3912621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47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React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4855464" y="4388109"/>
            <a:ext cx="3749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D6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updates → component re-renders with new data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A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4731"/>
          </a:solidFill>
          <a:ln w="12700">
            <a:solidFill>
              <a:srgbClr val="1A473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365760" y="164592"/>
            <a:ext cx="914400" cy="347472"/>
          </a:xfrm>
          <a:prstGeom prst="roundRect">
            <a:avLst>
              <a:gd name="adj" fmla="val 13158"/>
            </a:avLst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164592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47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7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417320" y="91440"/>
            <a:ext cx="7406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CONNECTING REACT WITH NODE.JS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47472" y="868680"/>
            <a:ext cx="4160520" cy="2377440"/>
          </a:xfrm>
          <a:prstGeom prst="roundRect">
            <a:avLst>
              <a:gd name="adj" fmla="val 3846"/>
            </a:avLst>
          </a:prstGeom>
          <a:solidFill>
            <a:srgbClr val="1A4731"/>
          </a:solidFill>
          <a:ln w="12700">
            <a:solidFill>
              <a:srgbClr val="1A4731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072" y="1069848"/>
            <a:ext cx="411480" cy="4114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97280" y="1033272"/>
            <a:ext cx="3246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2B7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Making HTTP Requests from React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576072" y="1527048"/>
            <a:ext cx="3703320" cy="18288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576072" y="1618488"/>
            <a:ext cx="370332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A8DA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fetch API (or axios) to call your own Node.js backend from a React component.</a:t>
            </a:r>
            <a:endParaRPr lang="en-US" sz="1100" dirty="0"/>
          </a:p>
          <a:p>
            <a:pPr marL="0" indent="0" algn="l">
              <a:buNone/>
            </a:pP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A8DA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forget CORS: Express must use the cors middleware to accept requests from React's origin (e.g. localhost:5173).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347472" y="3383280"/>
            <a:ext cx="4160520" cy="1571674"/>
          </a:xfrm>
          <a:prstGeom prst="roundRect">
            <a:avLst>
              <a:gd name="adj" fmla="val 5195"/>
            </a:avLst>
          </a:prstGeom>
          <a:solidFill>
            <a:srgbClr val="FEF3C7"/>
          </a:solidFill>
          <a:ln w="1905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502920" y="3474720"/>
            <a:ext cx="3840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9770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⚠  CORS Required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502920" y="3803904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CORS middleware, the browser will block all requests from React to Express. Always add: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2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npm install cors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2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app.use(cors())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4754880" y="868680"/>
            <a:ext cx="4069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47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React fetch → Node.js Backend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4754880" y="1298448"/>
            <a:ext cx="4069080" cy="3656506"/>
          </a:xfrm>
          <a:prstGeom prst="roundRect">
            <a:avLst>
              <a:gd name="adj" fmla="val 2083"/>
            </a:avLst>
          </a:prstGeom>
          <a:solidFill>
            <a:srgbClr val="0D1F14"/>
          </a:solidFill>
          <a:ln w="12700">
            <a:solidFill>
              <a:srgbClr val="2D6A4F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3"/>
          <p:cNvSpPr/>
          <p:nvPr/>
        </p:nvSpPr>
        <p:spPr>
          <a:xfrm>
            <a:off x="4919472" y="1426464"/>
            <a:ext cx="109728" cy="109728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4"/>
          <p:cNvSpPr/>
          <p:nvPr/>
        </p:nvSpPr>
        <p:spPr>
          <a:xfrm>
            <a:off x="5120640" y="1426464"/>
            <a:ext cx="109728" cy="109728"/>
          </a:xfrm>
          <a:prstGeom prst="ellipse">
            <a:avLst/>
          </a:prstGeom>
          <a:solidFill>
            <a:srgbClr val="FFBD2E"/>
          </a:solidFill>
          <a:ln w="12700">
            <a:solidFill>
              <a:srgbClr val="FFBD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5"/>
          <p:cNvSpPr/>
          <p:nvPr/>
        </p:nvSpPr>
        <p:spPr>
          <a:xfrm>
            <a:off x="5321808" y="1426464"/>
            <a:ext cx="109728" cy="109728"/>
          </a:xfrm>
          <a:prstGeom prst="ellipse">
            <a:avLst/>
          </a:prstGeom>
          <a:solidFill>
            <a:srgbClr val="28CA41"/>
          </a:solidFill>
          <a:ln w="12700">
            <a:solidFill>
              <a:srgbClr val="28CA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4919472" y="1618488"/>
            <a:ext cx="3739896" cy="30540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880" dirty="0">
                <a:solidFill>
                  <a:srgbClr val="95D5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In a React component</a:t>
            </a:r>
            <a:endParaRPr lang="en-US" sz="880" dirty="0"/>
          </a:p>
          <a:p>
            <a:pPr marL="0" indent="0" algn="l">
              <a:buNone/>
            </a:pPr>
            <a:r>
              <a:rPr lang="en-US" sz="880" dirty="0">
                <a:solidFill>
                  <a:srgbClr val="95D5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{ useState, useEffect } from 'react';</a:t>
            </a:r>
            <a:endParaRPr lang="en-US" sz="880" dirty="0"/>
          </a:p>
          <a:p>
            <a:pPr marL="0" indent="0" algn="l">
              <a:buNone/>
            </a:pPr>
            <a:endParaRPr lang="en-US" sz="880" dirty="0"/>
          </a:p>
          <a:p>
            <a:pPr marL="0" indent="0" algn="l">
              <a:buNone/>
            </a:pPr>
            <a:r>
              <a:rPr lang="en-US" sz="880" dirty="0">
                <a:solidFill>
                  <a:srgbClr val="95D5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RecipeList() {</a:t>
            </a:r>
            <a:endParaRPr lang="en-US" sz="880" dirty="0"/>
          </a:p>
          <a:p>
            <a:pPr marL="0" indent="0" algn="l">
              <a:buNone/>
            </a:pPr>
            <a:r>
              <a:rPr lang="en-US" sz="880" dirty="0">
                <a:solidFill>
                  <a:srgbClr val="95D5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[recipes, setRecipes] = useState([]);</a:t>
            </a:r>
            <a:endParaRPr lang="en-US" sz="880" dirty="0"/>
          </a:p>
          <a:p>
            <a:pPr marL="0" indent="0" algn="l">
              <a:buNone/>
            </a:pPr>
            <a:endParaRPr lang="en-US" sz="880" dirty="0"/>
          </a:p>
          <a:p>
            <a:pPr marL="0" indent="0" algn="l">
              <a:buNone/>
            </a:pPr>
            <a:r>
              <a:rPr lang="en-US" sz="880" dirty="0">
                <a:solidFill>
                  <a:srgbClr val="95D5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useEffect(() =&gt; {</a:t>
            </a:r>
            <a:endParaRPr lang="en-US" sz="880" dirty="0"/>
          </a:p>
          <a:p>
            <a:pPr marL="0" indent="0" algn="l">
              <a:buNone/>
            </a:pPr>
            <a:r>
              <a:rPr lang="en-US" sz="880" dirty="0">
                <a:solidFill>
                  <a:srgbClr val="95D5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Point to YOUR backend, not a public API</a:t>
            </a:r>
            <a:endParaRPr lang="en-US" sz="880" dirty="0"/>
          </a:p>
          <a:p>
            <a:pPr marL="0" indent="0" algn="l">
              <a:buNone/>
            </a:pPr>
            <a:r>
              <a:rPr lang="en-US" sz="880" dirty="0">
                <a:solidFill>
                  <a:srgbClr val="95D5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fetch('http://localhost:4000/api/recipes')</a:t>
            </a:r>
            <a:endParaRPr lang="en-US" sz="880" dirty="0"/>
          </a:p>
          <a:p>
            <a:pPr marL="0" indent="0" algn="l">
              <a:buNone/>
            </a:pPr>
            <a:r>
              <a:rPr lang="en-US" sz="880" dirty="0">
                <a:solidFill>
                  <a:srgbClr val="95D5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.then(res =&gt; res.json())</a:t>
            </a:r>
            <a:endParaRPr lang="en-US" sz="880" dirty="0"/>
          </a:p>
          <a:p>
            <a:pPr marL="0" indent="0" algn="l">
              <a:buNone/>
            </a:pPr>
            <a:r>
              <a:rPr lang="en-US" sz="880" dirty="0">
                <a:solidFill>
                  <a:srgbClr val="95D5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.then(data =&gt; setRecipes(data))</a:t>
            </a:r>
            <a:endParaRPr lang="en-US" sz="880" dirty="0"/>
          </a:p>
          <a:p>
            <a:pPr marL="0" indent="0" algn="l">
              <a:buNone/>
            </a:pPr>
            <a:r>
              <a:rPr lang="en-US" sz="880" dirty="0">
                <a:solidFill>
                  <a:srgbClr val="95D5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.catch(err =&gt;</a:t>
            </a:r>
            <a:endParaRPr lang="en-US" sz="880" dirty="0"/>
          </a:p>
          <a:p>
            <a:pPr marL="0" indent="0" algn="l">
              <a:buNone/>
            </a:pPr>
            <a:r>
              <a:rPr lang="en-US" sz="880" dirty="0">
                <a:solidFill>
                  <a:srgbClr val="95D5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console.error('Fetch failed:', err)</a:t>
            </a:r>
            <a:endParaRPr lang="en-US" sz="880" dirty="0"/>
          </a:p>
          <a:p>
            <a:pPr marL="0" indent="0" algn="l">
              <a:buNone/>
            </a:pPr>
            <a:r>
              <a:rPr lang="en-US" sz="880" dirty="0">
                <a:solidFill>
                  <a:srgbClr val="95D5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);</a:t>
            </a:r>
            <a:endParaRPr lang="en-US" sz="880" dirty="0"/>
          </a:p>
          <a:p>
            <a:pPr marL="0" indent="0" algn="l">
              <a:buNone/>
            </a:pPr>
            <a:r>
              <a:rPr lang="en-US" sz="880" dirty="0">
                <a:solidFill>
                  <a:srgbClr val="95D5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}, []);</a:t>
            </a:r>
            <a:endParaRPr lang="en-US" sz="880" dirty="0"/>
          </a:p>
          <a:p>
            <a:pPr marL="0" indent="0" algn="l">
              <a:buNone/>
            </a:pPr>
            <a:endParaRPr lang="en-US" sz="880" dirty="0"/>
          </a:p>
          <a:p>
            <a:pPr marL="0" indent="0" algn="l">
              <a:buNone/>
            </a:pPr>
            <a:r>
              <a:rPr lang="en-US" sz="880" dirty="0">
                <a:solidFill>
                  <a:srgbClr val="95D5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(</a:t>
            </a:r>
            <a:endParaRPr lang="en-US" sz="880" dirty="0"/>
          </a:p>
          <a:p>
            <a:pPr marL="0" indent="0" algn="l">
              <a:buNone/>
            </a:pPr>
            <a:r>
              <a:rPr lang="en-US" sz="880" dirty="0">
                <a:solidFill>
                  <a:srgbClr val="95D5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&lt;ul&gt;</a:t>
            </a:r>
            <a:endParaRPr lang="en-US" sz="880" dirty="0"/>
          </a:p>
          <a:p>
            <a:pPr marL="0" indent="0" algn="l">
              <a:buNone/>
            </a:pPr>
            <a:r>
              <a:rPr lang="en-US" sz="880" dirty="0">
                <a:solidFill>
                  <a:srgbClr val="95D5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{recipes.map(r =&gt; (</a:t>
            </a:r>
            <a:endParaRPr lang="en-US" sz="880" dirty="0"/>
          </a:p>
          <a:p>
            <a:pPr marL="0" indent="0" algn="l">
              <a:buNone/>
            </a:pPr>
            <a:r>
              <a:rPr lang="en-US" sz="880" dirty="0">
                <a:solidFill>
                  <a:srgbClr val="95D5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&lt;li key={r._id}&gt;{r.name}&lt;/li&gt;</a:t>
            </a:r>
            <a:endParaRPr lang="en-US" sz="880" dirty="0"/>
          </a:p>
          <a:p>
            <a:pPr marL="0" indent="0" algn="l">
              <a:buNone/>
            </a:pPr>
            <a:r>
              <a:rPr lang="en-US" sz="880" dirty="0">
                <a:solidFill>
                  <a:srgbClr val="95D5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))}</a:t>
            </a:r>
            <a:endParaRPr lang="en-US" sz="880" dirty="0"/>
          </a:p>
          <a:p>
            <a:pPr marL="0" indent="0" algn="l">
              <a:buNone/>
            </a:pPr>
            <a:r>
              <a:rPr lang="en-US" sz="880" dirty="0">
                <a:solidFill>
                  <a:srgbClr val="95D5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&lt;/ul&gt;</a:t>
            </a:r>
            <a:endParaRPr lang="en-US" sz="880" dirty="0"/>
          </a:p>
          <a:p>
            <a:pPr marL="0" indent="0" algn="l">
              <a:buNone/>
            </a:pPr>
            <a:r>
              <a:rPr lang="en-US" sz="880" dirty="0">
                <a:solidFill>
                  <a:srgbClr val="95D5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);</a:t>
            </a:r>
            <a:endParaRPr lang="en-US" sz="880" dirty="0"/>
          </a:p>
          <a:p>
            <a:pPr marL="0" indent="0" algn="l">
              <a:buNone/>
            </a:pPr>
            <a:r>
              <a:rPr lang="en-US" sz="880" dirty="0">
                <a:solidFill>
                  <a:srgbClr val="95D5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88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473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-914400"/>
            <a:ext cx="4572000" cy="4572000"/>
          </a:xfrm>
          <a:prstGeom prst="ellipse">
            <a:avLst/>
          </a:prstGeom>
          <a:solidFill>
            <a:srgbClr val="2D6A4F">
              <a:alpha val="35000"/>
            </a:srgbClr>
          </a:solidFill>
          <a:ln w="12700">
            <a:solidFill>
              <a:srgbClr val="2D6A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-1371600" y="3200400"/>
            <a:ext cx="3657600" cy="3657600"/>
          </a:xfrm>
          <a:prstGeom prst="ellipse">
            <a:avLst/>
          </a:prstGeom>
          <a:solidFill>
            <a:srgbClr val="2D6A4F">
              <a:alpha val="28000"/>
            </a:srgbClr>
          </a:solidFill>
          <a:ln w="12700">
            <a:solidFill>
              <a:srgbClr val="2D6A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48640" y="566928"/>
            <a:ext cx="7772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Best Practices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1170432"/>
            <a:ext cx="7772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Production-ready habits from day one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664208"/>
            <a:ext cx="2697480" cy="1335024"/>
          </a:xfrm>
          <a:prstGeom prst="roundRect">
            <a:avLst>
              <a:gd name="adj" fmla="val 6849"/>
            </a:avLst>
          </a:prstGeom>
          <a:solidFill>
            <a:srgbClr val="2D6A4F">
              <a:alpha val="70000"/>
            </a:srgbClr>
          </a:solidFill>
          <a:ln w="12700">
            <a:solidFill>
              <a:srgbClr val="52B788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694944" y="1810512"/>
            <a:ext cx="365760" cy="365760"/>
          </a:xfrm>
          <a:prstGeom prst="ellipse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94944" y="18105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47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170432" y="1828800"/>
            <a:ext cx="195681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 .env Files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94944" y="2267712"/>
            <a:ext cx="2432304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8DA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hard-code connection strings. Use dotenv.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401568" y="1664208"/>
            <a:ext cx="2697480" cy="1335024"/>
          </a:xfrm>
          <a:prstGeom prst="roundRect">
            <a:avLst>
              <a:gd name="adj" fmla="val 6849"/>
            </a:avLst>
          </a:prstGeom>
          <a:solidFill>
            <a:srgbClr val="2D6A4F">
              <a:alpha val="70000"/>
            </a:srgbClr>
          </a:solidFill>
          <a:ln w="12700">
            <a:solidFill>
              <a:srgbClr val="52B788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3547872" y="1810512"/>
            <a:ext cx="365760" cy="365760"/>
          </a:xfrm>
          <a:prstGeom prst="ellipse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547872" y="18105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47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023360" y="1828800"/>
            <a:ext cx="195681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Separate Concerns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547872" y="2267712"/>
            <a:ext cx="2432304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8DA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routes, models, and server logic in separate files.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254496" y="1664208"/>
            <a:ext cx="2697480" cy="1335024"/>
          </a:xfrm>
          <a:prstGeom prst="roundRect">
            <a:avLst>
              <a:gd name="adj" fmla="val 6849"/>
            </a:avLst>
          </a:prstGeom>
          <a:solidFill>
            <a:srgbClr val="2D6A4F">
              <a:alpha val="70000"/>
            </a:srgbClr>
          </a:solidFill>
          <a:ln w="12700">
            <a:solidFill>
              <a:srgbClr val="52B788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6400800" y="1810512"/>
            <a:ext cx="365760" cy="365760"/>
          </a:xfrm>
          <a:prstGeom prst="ellipse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400800" y="18105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47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876288" y="1828800"/>
            <a:ext cx="195681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async/await Always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400800" y="2267712"/>
            <a:ext cx="2432304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8DA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consistently for all database interactions.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48640" y="3145536"/>
            <a:ext cx="2697480" cy="1335024"/>
          </a:xfrm>
          <a:prstGeom prst="roundRect">
            <a:avLst>
              <a:gd name="adj" fmla="val 6849"/>
            </a:avLst>
          </a:prstGeom>
          <a:solidFill>
            <a:srgbClr val="2D6A4F">
              <a:alpha val="70000"/>
            </a:srgbClr>
          </a:solidFill>
          <a:ln w="12700">
            <a:solidFill>
              <a:srgbClr val="52B788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694944" y="3291840"/>
            <a:ext cx="365760" cy="365760"/>
          </a:xfrm>
          <a:prstGeom prst="ellipse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694944" y="32918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47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170432" y="3310128"/>
            <a:ext cx="195681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Validate Input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94944" y="3749040"/>
            <a:ext cx="2432304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8DA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Mongoose validators + express-validator. Never trust the client.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401568" y="3145536"/>
            <a:ext cx="2697480" cy="1335024"/>
          </a:xfrm>
          <a:prstGeom prst="roundRect">
            <a:avLst>
              <a:gd name="adj" fmla="val 6849"/>
            </a:avLst>
          </a:prstGeom>
          <a:solidFill>
            <a:srgbClr val="2D6A4F">
              <a:alpha val="70000"/>
            </a:srgbClr>
          </a:solidFill>
          <a:ln w="12700">
            <a:solidFill>
              <a:srgbClr val="52B788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3547872" y="3291840"/>
            <a:ext cx="365760" cy="365760"/>
          </a:xfrm>
          <a:prstGeom prst="ellipse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3547872" y="32918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47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023360" y="3310128"/>
            <a:ext cx="195681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Graceful Shutdown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3547872" y="3749040"/>
            <a:ext cx="2432304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8DA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 the DB connection when the server shuts down.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231</TotalTime>
  <Words>1441</Words>
  <Application>Microsoft Macintosh PowerPoint</Application>
  <PresentationFormat>On-screen Show (16:9)</PresentationFormat>
  <Paragraphs>268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Node.js with MongoDB</dc:title>
  <dc:subject>PptxGenJS Presentation</dc:subject>
  <dc:creator>PptxGenJS</dc:creator>
  <cp:lastModifiedBy>Franco Gian de Castro</cp:lastModifiedBy>
  <cp:revision>2</cp:revision>
  <dcterms:created xsi:type="dcterms:W3CDTF">2026-06-12T09:29:53Z</dcterms:created>
  <dcterms:modified xsi:type="dcterms:W3CDTF">2026-06-12T14:57:25Z</dcterms:modified>
</cp:coreProperties>
</file>